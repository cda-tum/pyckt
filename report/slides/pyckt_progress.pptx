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FFFFFF"/>
                </a:solidFill>
                <a:latin typeface="Calibri"/>
              </a:rPr>
              <a:t>pyckt</a:t>
            </a:r>
          </a:p>
          <a:p>
            <a:r>
              <a:rPr sz="2400" b="0" i="0">
                <a:solidFill>
                  <a:srgbClr val="D6E0F0"/>
                </a:solidFill>
                <a:latin typeface="Calibri"/>
              </a:rPr>
              <a:t>Python re-implementation of the acst analog-circuit-synthesis tool</a:t>
            </a:r>
          </a:p>
          <a:p>
            <a:pPr>
              <a:spcBef>
                <a:spcPts val="2400"/>
              </a:spcBef>
            </a:pPr>
            <a:r>
              <a:rPr sz="1800" b="0" i="0">
                <a:solidFill>
                  <a:srgbClr val="AEC0DC"/>
                </a:solidFill>
                <a:latin typeface="Calibri"/>
              </a:rPr>
              <a:t>Progress report  ·  Firas  ·  2026-06-05</a:t>
            </a:r>
          </a:p>
          <a:p>
            <a:pPr>
              <a:spcBef>
                <a:spcPts val="4000"/>
              </a:spcBef>
            </a:pPr>
            <a:r>
              <a:rPr sz="1500" b="0" i="0">
                <a:solidFill>
                  <a:srgbClr val="9FB4D6"/>
                </a:solidFill>
                <a:latin typeface="Calibri"/>
              </a:rPr>
              <a:t>pyckt (Python):  github.com/cda-tum/pyckt</a:t>
            </a:r>
          </a:p>
          <a:p>
            <a:r>
              <a:rPr sz="1500" b="0" i="0">
                <a:solidFill>
                  <a:srgbClr val="9FB4D6"/>
                </a:solidFill>
                <a:latin typeface="Calibri"/>
              </a:rPr>
              <a:t>acst  (C++ reference):  github.com/inga000/acst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Goal &amp;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1F375B"/>
                </a:solidFill>
                <a:latin typeface="Calibri"/>
              </a:rPr>
              <a:t>• </a:t>
            </a:r>
            <a:r>
              <a:rPr sz="2000" b="1" i="0">
                <a:solidFill>
                  <a:srgbClr val="1F375B"/>
                </a:solidFill>
                <a:latin typeface="Calibri"/>
              </a:rPr>
              <a:t>Translate acst (~112,000 lines of C++) into a maintainable Python package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700" b="0" i="0">
                <a:solidFill>
                  <a:srgbClr val="555555"/>
                </a:solidFill>
                <a:latin typeface="Calibri"/>
              </a:rPr>
              <a:t>acst = analog circuit synthesis tool from TU München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375B"/>
                </a:solidFill>
                <a:latin typeface="Calibri"/>
              </a:rPr>
              <a:t>• </a:t>
            </a:r>
            <a:r>
              <a:rPr sz="2000" b="1" i="0">
                <a:solidFill>
                  <a:srgbClr val="1F375B"/>
                </a:solidFill>
                <a:latin typeface="Calibri"/>
              </a:rPr>
              <a:t>Reproduce the same six analysis modes …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700" b="0" i="0">
                <a:solidFill>
                  <a:srgbClr val="555555"/>
                </a:solidFill>
                <a:latin typeface="Calibri"/>
              </a:rPr>
              <a:t>structrec · partitioning · rulegen · automaticsizing · synthesis · toplibgen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375B"/>
                </a:solidFill>
                <a:latin typeface="Calibri"/>
              </a:rPr>
              <a:t>• </a:t>
            </a:r>
            <a:r>
              <a:rPr sz="2000" b="1" i="0">
                <a:solidFill>
                  <a:srgbClr val="1F375B"/>
                </a:solidFill>
                <a:latin typeface="Calibri"/>
              </a:rPr>
              <a:t>… and the same outputs, so Python can be validated against the original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700" b="0" i="0">
                <a:solidFill>
                  <a:srgbClr val="555555"/>
                </a:solidFill>
                <a:latin typeface="Calibri"/>
              </a:rPr>
              <a:t>acst is the reference: for any input, pyckt should match it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2E5EAA"/>
                </a:solidFill>
                <a:latin typeface="Calibri"/>
              </a:rPr>
              <a:t>• </a:t>
            </a:r>
            <a:r>
              <a:rPr sz="2000" b="1" i="0">
                <a:solidFill>
                  <a:srgbClr val="2E5EAA"/>
                </a:solidFill>
                <a:latin typeface="Calibri"/>
              </a:rPr>
              <a:t>Validation enabler: pyckt emits output in acst's exact XML schema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700" b="0" i="0">
                <a:solidFill>
                  <a:srgbClr val="555555"/>
                </a:solidFill>
                <a:latin typeface="Calibri"/>
              </a:rPr>
              <a:t>(--output-format acst)  → outputs diffed tag-for-tag, not by eye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Status at a glance</a:t>
            </a:r>
          </a:p>
          <a:p>
            <a:r>
              <a:rPr sz="1400" b="0" i="0">
                <a:solidFill>
                  <a:srgbClr val="D6E0F0"/>
                </a:solidFill>
                <a:latin typeface="Calibri"/>
              </a:rPr>
              <a:t>All six modes run end-to-end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2014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188720"/>
                <a:gridCol w="5989320"/>
                <a:gridCol w="1554480"/>
              </a:tblGrid>
              <a:tr h="69233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 marL="91440" marR="54864" marT="27432" marB="27432"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Pipeline</a:t>
                      </a:r>
                    </a:p>
                  </a:txBody>
                  <a:tcPr marL="91440" marR="54864" marT="27432" marB="27432"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Output vs acst</a:t>
                      </a:r>
                    </a:p>
                  </a:txBody>
                  <a:tcPr marL="91440" marR="54864" marT="27432" marB="27432"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91440" marR="54864" marT="27432" marB="27432">
                    <a:solidFill>
                      <a:srgbClr val="1F375B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75B"/>
                          </a:solidFill>
                          <a:latin typeface="Calibri"/>
                        </a:rPr>
                        <a:t>structrec</a:t>
                      </a:r>
                    </a:p>
                  </a:txBody>
                  <a:tcPr marL="91440" marR="54864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1440" marR="54864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16/16 devices + full hierarchy match</a:t>
                      </a:r>
                    </a:p>
                  </a:txBody>
                  <a:tcPr marL="91440" marR="54864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E7D3C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91440" marR="54864" marT="27432" marB="27432">
                    <a:solidFill>
                      <a:srgbClr val="F2F5FA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75B"/>
                          </a:solidFill>
                          <a:latin typeface="Calibri"/>
                        </a:rPr>
                        <a:t>partitioning</a:t>
                      </a:r>
                    </a:p>
                  </a:txBody>
                  <a:tcPr marL="91440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1440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19/19 devices in same section</a:t>
                      </a:r>
                    </a:p>
                  </a:txBody>
                  <a:tcPr marL="91440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E7D3C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91440" marR="54864" marT="27432" marB="27432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75B"/>
                          </a:solidFill>
                          <a:latin typeface="Calibri"/>
                        </a:rPr>
                        <a:t>rulegen</a:t>
                      </a:r>
                    </a:p>
                  </a:txBody>
                  <a:tcPr marL="91440" marR="54864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1440" marR="54864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10/10 items, 9/10 same level</a:t>
                      </a:r>
                    </a:p>
                  </a:txBody>
                  <a:tcPr marL="91440" marR="54864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E7D3C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91440" marR="54864" marT="27432" marB="27432">
                    <a:solidFill>
                      <a:srgbClr val="F2F5FA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75B"/>
                          </a:solidFill>
                          <a:latin typeface="Calibri"/>
                        </a:rPr>
                        <a:t>automaticsizing</a:t>
                      </a:r>
                    </a:p>
                  </a:txBody>
                  <a:tcPr marL="91440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1440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schema + perf models match; W/L tuning open</a:t>
                      </a:r>
                    </a:p>
                  </a:txBody>
                  <a:tcPr marL="91440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7A00"/>
                          </a:solidFill>
                          <a:latin typeface="Calibri"/>
                        </a:rPr>
                        <a:t>Functional</a:t>
                      </a:r>
                    </a:p>
                  </a:txBody>
                  <a:tcPr marL="91440" marR="54864" marT="27432" marB="27432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75B"/>
                          </a:solidFill>
                          <a:latin typeface="Calibri"/>
                        </a:rPr>
                        <a:t>synthesis</a:t>
                      </a:r>
                    </a:p>
                  </a:txBody>
                  <a:tcPr marL="91440" marR="54864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1440" marR="54864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4,914 candidates ranked; netlists = placeholders</a:t>
                      </a:r>
                    </a:p>
                  </a:txBody>
                  <a:tcPr marL="91440" marR="54864" marT="27432" marB="27432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7A00"/>
                          </a:solidFill>
                          <a:latin typeface="Calibri"/>
                        </a:rPr>
                        <a:t>Framework</a:t>
                      </a:r>
                    </a:p>
                  </a:txBody>
                  <a:tcPr marL="91440" marR="54864" marT="27432" marB="27432">
                    <a:solidFill>
                      <a:srgbClr val="F2F5FA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75B"/>
                          </a:solidFill>
                          <a:latin typeface="Calibri"/>
                        </a:rPr>
                        <a:t>toplibgen</a:t>
                      </a:r>
                    </a:p>
                  </a:txBody>
                  <a:tcPr marL="91440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91440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1,725 topologies enumerated; netlists = placeholders</a:t>
                      </a:r>
                    </a:p>
                  </a:txBody>
                  <a:tcPr marL="91440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7A00"/>
                          </a:solidFill>
                          <a:latin typeface="Calibri"/>
                        </a:rPr>
                        <a:t>Framework</a:t>
                      </a:r>
                    </a:p>
                  </a:txBody>
                  <a:tcPr marL="91440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Validation: recognition modes match acst</a:t>
            </a:r>
          </a:p>
          <a:p>
            <a:r>
              <a:rPr sz="1400" b="0" i="0">
                <a:solidFill>
                  <a:srgbClr val="D6E0F0"/>
                </a:solidFill>
                <a:latin typeface="Calibri"/>
              </a:rPr>
              <a:t>Deterministic modes — exact agreement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1" i="0">
                <a:solidFill>
                  <a:srgbClr val="1E7D3C"/>
                </a:solidFill>
                <a:latin typeface="Calibri"/>
              </a:rPr>
              <a:t>• </a:t>
            </a:r>
            <a:r>
              <a:rPr sz="2100" b="1" i="0">
                <a:solidFill>
                  <a:srgbClr val="1E7D3C"/>
                </a:solidFill>
                <a:latin typeface="Calibri"/>
              </a:rPr>
              <a:t>structrec — structure recognition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700" b="0" i="0">
                <a:solidFill>
                  <a:srgbClr val="555555"/>
                </a:solidFill>
                <a:latin typeface="Calibri"/>
              </a:rPr>
              <a:t>16/16 devices to same structure; full composite hierarchy identical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fixed this period: spurious LevelShifter + swapped diff-pair pins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1E7D3C"/>
                </a:solidFill>
                <a:latin typeface="Calibri"/>
              </a:rPr>
              <a:t>• </a:t>
            </a:r>
            <a:r>
              <a:rPr sz="2100" b="1" i="0">
                <a:solidFill>
                  <a:srgbClr val="1E7D3C"/>
                </a:solidFill>
                <a:latin typeface="Calibri"/>
              </a:rPr>
              <a:t>partitioning — circuit partitioning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700" b="0" i="0">
                <a:solidFill>
                  <a:srgbClr val="555555"/>
                </a:solidFill>
                <a:latin typeface="Calibri"/>
              </a:rPr>
              <a:t>19/19 devices in same section (gm-path stages / bias / load / caps)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was the biggest gap (1/6) → re-implemented to acst's stage logic → 19/19</a:t>
            </a:r>
          </a:p>
          <a:p>
            <a:pPr>
              <a:spcAft>
                <a:spcPts val="800"/>
              </a:spcAft>
            </a:pPr>
            <a:r>
              <a:rPr sz="2100" b="1" i="0">
                <a:solidFill>
                  <a:srgbClr val="1E7D3C"/>
                </a:solidFill>
                <a:latin typeface="Calibri"/>
              </a:rPr>
              <a:t>• </a:t>
            </a:r>
            <a:r>
              <a:rPr sz="2100" b="1" i="0">
                <a:solidFill>
                  <a:srgbClr val="1E7D3C"/>
                </a:solidFill>
                <a:latin typeface="Calibri"/>
              </a:rPr>
              <a:t>rulegen — sizing-rule library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700" b="0" i="0">
                <a:solidFill>
                  <a:srgbClr val="555555"/>
                </a:solidFill>
                <a:latin typeface="Calibri"/>
              </a:rPr>
              <a:t>same pairLibrary artifact; 10/10 items, 9/10 at same hierarchy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2E5EAA"/>
                </a:solidFill>
                <a:latin typeface="Calibri"/>
              </a:rPr>
              <a:t>→ See side-by-side XML in samples/structrec, samples/partitioning, samples/rulegen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Validation: automatic sizing</a:t>
            </a:r>
          </a:p>
          <a:p>
            <a:r>
              <a:rPr sz="1400" b="0" i="0">
                <a:solidFill>
                  <a:srgbClr val="D6E0F0"/>
                </a:solidFill>
                <a:latin typeface="Calibri"/>
              </a:rPr>
              <a:t>Output format &amp; models match; optimiser tuning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 i="0">
                <a:solidFill>
                  <a:srgbClr val="1E7D3C"/>
                </a:solidFill>
                <a:latin typeface="Calibri"/>
              </a:rPr>
              <a:t>• </a:t>
            </a:r>
            <a:r>
              <a:rPr sz="1900" b="1" i="0">
                <a:solidFill>
                  <a:srgbClr val="1E7D3C"/>
                </a:solidFill>
                <a:latin typeface="Calibri"/>
              </a:rPr>
              <a:t>Output schema matches acst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ExpectedPerformance / Currents / Dimensions</a:t>
            </a:r>
          </a:p>
          <a:p>
            <a:pPr>
              <a:spcAft>
                <a:spcPts val="800"/>
              </a:spcAft>
            </a:pPr>
            <a:r>
              <a:rPr sz="1900" b="1" i="0">
                <a:solidFill>
                  <a:srgbClr val="1E7D3C"/>
                </a:solidFill>
                <a:latin typeface="Calibri"/>
              </a:rPr>
              <a:t>• </a:t>
            </a:r>
            <a:r>
              <a:rPr sz="1900" b="1" i="0">
                <a:solidFill>
                  <a:srgbClr val="1E7D3C"/>
                </a:solidFill>
                <a:latin typeface="Calibri"/>
              </a:rPr>
              <a:t>Performance models implemented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Ft, slew rate, phase margin (were stubbed → 0)</a:t>
            </a:r>
          </a:p>
          <a:p>
            <a:pPr>
              <a:spcAft>
                <a:spcPts val="800"/>
              </a:spcAft>
            </a:pPr>
            <a:r>
              <a:rPr sz="1900" b="1" i="0">
                <a:solidFill>
                  <a:srgbClr val="1E7D3C"/>
                </a:solidFill>
                <a:latin typeface="Calibri"/>
              </a:rPr>
              <a:t>• </a:t>
            </a:r>
            <a:r>
              <a:rPr sz="1900" b="1" i="0">
                <a:solidFill>
                  <a:srgbClr val="1E7D3C"/>
                </a:solidFill>
                <a:latin typeface="Calibri"/>
              </a:rPr>
              <a:t>Produces a valid sized HSPICE netlist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samples/sizing/sized_netlist_pyckt.hspice</a:t>
            </a:r>
          </a:p>
          <a:p>
            <a:pPr>
              <a:spcAft>
                <a:spcPts val="800"/>
              </a:spcAft>
            </a:pPr>
            <a:r>
              <a:rPr sz="1900" b="1" i="0">
                <a:solidFill>
                  <a:srgbClr val="B57A00"/>
                </a:solidFill>
                <a:latin typeface="Calibri"/>
              </a:rPr>
              <a:t>• </a:t>
            </a:r>
            <a:r>
              <a:rPr sz="1900" b="1" i="0">
                <a:solidFill>
                  <a:srgbClr val="B57A00"/>
                </a:solidFill>
                <a:latin typeface="Calibri"/>
              </a:rPr>
              <a:t>Open: solver under-sizes the design</a:t>
            </a:r>
          </a:p>
          <a:p>
            <a:pPr lvl="1">
              <a:spcAft>
                <a:spcPts val="80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not yet at acst's operating point — main numeric item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371600"/>
          <a:ext cx="53035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61395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T="18288" marB="18288"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acst</a:t>
                      </a:r>
                    </a:p>
                  </a:txBody>
                  <a:tcPr marL="73152" marT="18288" marB="18288"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pyckt</a:t>
                      </a:r>
                    </a:p>
                  </a:txBody>
                  <a:tcPr marL="73152" marT="18288" marB="18288"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73152" marT="18288" marB="18288">
                    <a:solidFill>
                      <a:srgbClr val="1F375B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75B"/>
                          </a:solidFill>
                          <a:latin typeface="Calibri"/>
                        </a:rPr>
                        <a:t>Gain (dB)</a:t>
                      </a:r>
                    </a:p>
                  </a:txBody>
                  <a:tcPr marL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90.0</a:t>
                      </a:r>
                    </a:p>
                  </a:txBody>
                  <a:tcPr marL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91.3</a:t>
                      </a:r>
                    </a:p>
                  </a:txBody>
                  <a:tcPr marL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E7D3C"/>
                          </a:solidFill>
                          <a:latin typeface="Calibri"/>
                        </a:rPr>
                        <a:t>1.4%</a:t>
                      </a:r>
                    </a:p>
                  </a:txBody>
                  <a:tcPr marL="73152" marT="18288" marB="18288">
                    <a:solidFill>
                      <a:srgbClr val="F2F5FA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75B"/>
                          </a:solidFill>
                          <a:latin typeface="Calibri"/>
                        </a:rPr>
                        <a:t>Slew (V/µs)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22.5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24.5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E7D3C"/>
                          </a:solidFill>
                          <a:latin typeface="Calibri"/>
                        </a:rPr>
                        <a:t>8.8%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75B"/>
                          </a:solidFill>
                          <a:latin typeface="Calibri"/>
                        </a:rPr>
                        <a:t>Power (mW)</a:t>
                      </a:r>
                    </a:p>
                  </a:txBody>
                  <a:tcPr marL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6.12</a:t>
                      </a:r>
                    </a:p>
                  </a:txBody>
                  <a:tcPr marL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7.53</a:t>
                      </a:r>
                    </a:p>
                  </a:txBody>
                  <a:tcPr marL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7A00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 marL="73152" marT="18288" marB="18288">
                    <a:solidFill>
                      <a:srgbClr val="F2F5FA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75B"/>
                          </a:solidFill>
                          <a:latin typeface="Calibri"/>
                        </a:rPr>
                        <a:t>Phase margin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60.7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87.2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0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75B"/>
                          </a:solidFill>
                          <a:latin typeface="Calibri"/>
                        </a:rPr>
                        <a:t>Transit f (MHz)</a:t>
                      </a:r>
                    </a:p>
                  </a:txBody>
                  <a:tcPr marL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6.93</a:t>
                      </a:r>
                    </a:p>
                  </a:txBody>
                  <a:tcPr marL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23.1</a:t>
                      </a:r>
                    </a:p>
                  </a:txBody>
                  <a:tcPr marL="73152" marT="18288" marB="18288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0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73152" marT="18288" marB="18288">
                    <a:solidFill>
                      <a:srgbClr val="F2F5FA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375B"/>
                          </a:solidFill>
                          <a:latin typeface="Calibri"/>
                        </a:rPr>
                        <a:t>Area (µm²)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10868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207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02A2A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Synthesis &amp; topology generation</a:t>
            </a:r>
          </a:p>
          <a:p>
            <a:r>
              <a:rPr sz="1400" b="0" i="0">
                <a:solidFill>
                  <a:srgbClr val="D6E0F0"/>
                </a:solidFill>
                <a:latin typeface="Calibri"/>
              </a:rPr>
              <a:t>Enumeration + ranking framework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1F375B"/>
                </a:solidFill>
                <a:latin typeface="Calibri"/>
              </a:rPr>
              <a:t>• </a:t>
            </a:r>
            <a:r>
              <a:rPr sz="2000" b="1" i="0">
                <a:solidFill>
                  <a:srgbClr val="1F375B"/>
                </a:solidFill>
                <a:latin typeface="Calibri"/>
              </a:rPr>
              <a:t>synthesis — enumerate, size, rank candidate topologies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700" b="0" i="0">
                <a:solidFill>
                  <a:srgbClr val="555555"/>
                </a:solidFill>
                <a:latin typeface="Calibri"/>
              </a:rPr>
              <a:t>4,914 candidates ranked (rank / score / gain / power / area / Ft)</a:t>
            </a:r>
          </a:p>
          <a:p>
            <a:pPr lvl="1">
              <a:spcAft>
                <a:spcPts val="800"/>
              </a:spcAft>
            </a:pPr>
            <a:r>
              <a:rPr sz="1400" b="0" i="0">
                <a:solidFill>
                  <a:srgbClr val="2E5EAA"/>
                </a:solidFill>
                <a:latin typeface="Calibri"/>
              </a:rPr>
              <a:t>– </a:t>
            </a:r>
            <a:r>
              <a:rPr sz="1400" b="0" i="0">
                <a:solidFill>
                  <a:srgbClr val="2E5EAA"/>
                </a:solidFill>
                <a:latin typeface="Calibri"/>
              </a:rPr>
              <a:t>samples/synthesis/synthesis_ranking_pyckt.json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F375B"/>
                </a:solidFill>
                <a:latin typeface="Calibri"/>
              </a:rPr>
              <a:t>• </a:t>
            </a:r>
            <a:r>
              <a:rPr sz="2000" b="1" i="0">
                <a:solidFill>
                  <a:srgbClr val="1F375B"/>
                </a:solidFill>
                <a:latin typeface="Calibri"/>
              </a:rPr>
              <a:t>toplibgen — enumerate the op-amp topology library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700" b="0" i="0">
                <a:solidFill>
                  <a:srgbClr val="555555"/>
                </a:solidFill>
                <a:latin typeface="Calibri"/>
              </a:rPr>
              <a:t>1,725 topologies (133 one-stage + 1,592 two-stage), each with metadata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B57A00"/>
                </a:solidFill>
                <a:latin typeface="Calibri"/>
              </a:rPr>
              <a:t>• </a:t>
            </a:r>
            <a:r>
              <a:rPr sz="1800" b="1" i="0">
                <a:solidFill>
                  <a:srgbClr val="B57A00"/>
                </a:solidFill>
                <a:latin typeface="Calibri"/>
              </a:rPr>
              <a:t>Framework done; per-topology netlist bodies still placeholders (next phase)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acst's generators run minutes–hours → direct output diff deferred until offline run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Recent progress  &amp; 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1E7D3C"/>
                </a:solidFill>
                <a:latin typeface="Calibri"/>
              </a:rPr>
              <a:t>• </a:t>
            </a:r>
            <a:r>
              <a:rPr sz="2000" b="1" i="0">
                <a:solidFill>
                  <a:srgbClr val="1E7D3C"/>
                </a:solidFill>
                <a:latin typeface="Calibri"/>
              </a:rPr>
              <a:t>Done this period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acst-compatible output writer (all modes)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partitioning re-implemented → 1/6 → 19/19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structrec hierarchy + pin-label fixes → 16/16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sizing performance models implemented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parser robustness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32588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2E5EAA"/>
                </a:solidFill>
                <a:latin typeface="Calibri"/>
              </a:rPr>
              <a:t>• </a:t>
            </a:r>
            <a:r>
              <a:rPr sz="2000" b="1" i="0">
                <a:solidFill>
                  <a:srgbClr val="2E5EAA"/>
                </a:solidFill>
                <a:latin typeface="Calibri"/>
              </a:rPr>
              <a:t>Next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tune sizing solver to acst's operating point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real synthesis / toplibgen netlist bodies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reconcile rulegen level + persistence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derive partitioning nets from structure tree</a:t>
            </a:r>
          </a:p>
          <a:p>
            <a:pPr lvl="1">
              <a:spcAft>
                <a:spcPts val="8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run acst to completion → validate synth/toplibgen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